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jpg" ContentType="image/jpg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01643" y="26671"/>
            <a:ext cx="7851140" cy="11594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53520" y="3395794"/>
            <a:ext cx="5970270" cy="3110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56713" y="131209"/>
            <a:ext cx="7641590" cy="1036319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sz="2400" spc="-45" b="1">
                <a:latin typeface="Times New Roman"/>
                <a:cs typeface="Times New Roman"/>
              </a:rPr>
              <a:t>CHHATTISGARH</a:t>
            </a:r>
            <a:r>
              <a:rPr dirty="0" sz="2400" spc="-80" b="1">
                <a:latin typeface="Times New Roman"/>
                <a:cs typeface="Times New Roman"/>
              </a:rPr>
              <a:t> </a:t>
            </a:r>
            <a:r>
              <a:rPr dirty="0" sz="2400" spc="-125" b="1">
                <a:latin typeface="Times New Roman"/>
                <a:cs typeface="Times New Roman"/>
              </a:rPr>
              <a:t>SWAMI</a:t>
            </a:r>
            <a:r>
              <a:rPr dirty="0" sz="2400" spc="-190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VIVEKANAND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TECHNICAL</a:t>
            </a:r>
            <a:endParaRPr sz="2400">
              <a:latin typeface="Times New Roman"/>
              <a:cs typeface="Times New Roman"/>
            </a:endParaRPr>
          </a:p>
          <a:p>
            <a:pPr marL="2927350">
              <a:lnSpc>
                <a:spcPct val="100000"/>
              </a:lnSpc>
              <a:spcBef>
                <a:spcPts val="1100"/>
              </a:spcBef>
            </a:pPr>
            <a:r>
              <a:rPr dirty="0" sz="2400" spc="-40" b="1">
                <a:latin typeface="Times New Roman"/>
                <a:cs typeface="Times New Roman"/>
              </a:rPr>
              <a:t>UNIVERSITY,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Bhilai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214" y="234694"/>
            <a:ext cx="1441704" cy="138379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547703" y="5001055"/>
            <a:ext cx="2461895" cy="154432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400" b="1">
                <a:latin typeface="Calibri"/>
                <a:cs typeface="Calibri"/>
              </a:rPr>
              <a:t>Kishlay</a:t>
            </a:r>
            <a:r>
              <a:rPr dirty="0" sz="2400" spc="-120" b="1">
                <a:latin typeface="Calibri"/>
                <a:cs typeface="Calibri"/>
              </a:rPr>
              <a:t> </a:t>
            </a:r>
            <a:r>
              <a:rPr dirty="0" sz="2400" spc="-20" b="1">
                <a:latin typeface="Calibri"/>
                <a:cs typeface="Calibri"/>
              </a:rPr>
              <a:t>Kumar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2100" b="1">
                <a:latin typeface="Calibri"/>
                <a:cs typeface="Calibri"/>
              </a:rPr>
              <a:t>Roll</a:t>
            </a:r>
            <a:r>
              <a:rPr dirty="0" sz="2100" spc="-85" b="1">
                <a:latin typeface="Calibri"/>
                <a:cs typeface="Calibri"/>
              </a:rPr>
              <a:t> </a:t>
            </a:r>
            <a:r>
              <a:rPr dirty="0" sz="2100" b="1">
                <a:latin typeface="Calibri"/>
                <a:cs typeface="Calibri"/>
              </a:rPr>
              <a:t>No</a:t>
            </a:r>
            <a:r>
              <a:rPr dirty="0" sz="2000" b="1">
                <a:latin typeface="Calibri"/>
                <a:cs typeface="Calibri"/>
              </a:rPr>
              <a:t>-</a:t>
            </a:r>
            <a:r>
              <a:rPr dirty="0" sz="2000" spc="-100" b="1">
                <a:latin typeface="Calibri"/>
                <a:cs typeface="Calibri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300012723033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515"/>
              </a:lnSpc>
              <a:spcBef>
                <a:spcPts val="80"/>
              </a:spcBef>
            </a:pPr>
            <a:r>
              <a:rPr dirty="0" sz="2100" b="1">
                <a:latin typeface="Calibri"/>
                <a:cs typeface="Calibri"/>
              </a:rPr>
              <a:t>Branch</a:t>
            </a:r>
            <a:r>
              <a:rPr dirty="0" sz="1800">
                <a:latin typeface="Calibri"/>
                <a:cs typeface="Calibri"/>
              </a:rPr>
              <a:t>-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CSE(AI)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995"/>
              </a:lnSpc>
            </a:pPr>
            <a:r>
              <a:rPr dirty="0" sz="2500" spc="-35" b="1">
                <a:latin typeface="Calibri"/>
                <a:cs typeface="Calibri"/>
              </a:rPr>
              <a:t>Sem.</a:t>
            </a:r>
            <a:r>
              <a:rPr dirty="0" sz="1800" spc="-35">
                <a:latin typeface="Calibri"/>
                <a:cs typeface="Calibri"/>
              </a:rPr>
              <a:t>-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5th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31534" y="5147371"/>
            <a:ext cx="494157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84605" algn="l"/>
              </a:tabLst>
            </a:pPr>
            <a:r>
              <a:rPr dirty="0" sz="2600" spc="-10" b="1">
                <a:latin typeface="Times New Roman"/>
                <a:cs typeface="Times New Roman"/>
              </a:rPr>
              <a:t>Course:</a:t>
            </a:r>
            <a:r>
              <a:rPr dirty="0" sz="2600" b="1">
                <a:latin typeface="Times New Roman"/>
                <a:cs typeface="Times New Roman"/>
              </a:rPr>
              <a:t>	</a:t>
            </a:r>
            <a:r>
              <a:rPr dirty="0" sz="2600" spc="-40" b="1">
                <a:latin typeface="Times New Roman"/>
                <a:cs typeface="Times New Roman"/>
              </a:rPr>
              <a:t>B.Tech(Hons.)</a:t>
            </a:r>
            <a:r>
              <a:rPr dirty="0" sz="2600" spc="-7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in</a:t>
            </a:r>
            <a:r>
              <a:rPr dirty="0" sz="2600" spc="-65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CSE(AI)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52250" y="1529095"/>
            <a:ext cx="71342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50">
                <a:solidFill>
                  <a:srgbClr val="6F2F9F"/>
                </a:solidFill>
              </a:rPr>
              <a:t>VOCATIONAL</a:t>
            </a:r>
            <a:r>
              <a:rPr dirty="0" sz="3600" spc="-245">
                <a:solidFill>
                  <a:srgbClr val="6F2F9F"/>
                </a:solidFill>
              </a:rPr>
              <a:t> </a:t>
            </a:r>
            <a:r>
              <a:rPr dirty="0" sz="3600" spc="-25">
                <a:solidFill>
                  <a:srgbClr val="6F2F9F"/>
                </a:solidFill>
              </a:rPr>
              <a:t>TRAINING</a:t>
            </a:r>
            <a:r>
              <a:rPr dirty="0" sz="3600" spc="-125">
                <a:solidFill>
                  <a:srgbClr val="6F2F9F"/>
                </a:solidFill>
              </a:rPr>
              <a:t> </a:t>
            </a:r>
            <a:r>
              <a:rPr dirty="0" sz="3600" spc="-130">
                <a:solidFill>
                  <a:srgbClr val="6F2F9F"/>
                </a:solidFill>
              </a:rPr>
              <a:t>PRESENTATION</a:t>
            </a:r>
            <a:endParaRPr sz="3600"/>
          </a:p>
        </p:txBody>
      </p:sp>
      <p:sp>
        <p:nvSpPr>
          <p:cNvPr id="7" name="object 7" descr=""/>
          <p:cNvSpPr txBox="1"/>
          <p:nvPr/>
        </p:nvSpPr>
        <p:spPr>
          <a:xfrm>
            <a:off x="3360456" y="2305095"/>
            <a:ext cx="7101840" cy="2442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736600">
              <a:lnSpc>
                <a:spcPct val="100000"/>
              </a:lnSpc>
              <a:spcBef>
                <a:spcPts val="100"/>
              </a:spcBef>
            </a:pPr>
            <a:r>
              <a:rPr dirty="0" sz="2800" spc="-25">
                <a:latin typeface="Calibri"/>
                <a:cs typeface="Calibri"/>
              </a:rPr>
              <a:t>On</a:t>
            </a:r>
            <a:endParaRPr sz="2800">
              <a:latin typeface="Calibri"/>
              <a:cs typeface="Calibri"/>
            </a:endParaRPr>
          </a:p>
          <a:p>
            <a:pPr algn="ctr" marR="735965">
              <a:lnSpc>
                <a:spcPts val="2840"/>
              </a:lnSpc>
              <a:spcBef>
                <a:spcPts val="2095"/>
              </a:spcBef>
            </a:pPr>
            <a:r>
              <a:rPr dirty="0" sz="2400" spc="-20" b="1">
                <a:latin typeface="Times New Roman"/>
                <a:cs typeface="Times New Roman"/>
              </a:rPr>
              <a:t>MULTIPLE</a:t>
            </a:r>
            <a:r>
              <a:rPr dirty="0" sz="2400" spc="-114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DISEASE</a:t>
            </a:r>
            <a:r>
              <a:rPr dirty="0" sz="2400" spc="-114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PREDICTION</a:t>
            </a:r>
            <a:r>
              <a:rPr dirty="0" sz="2400" spc="-11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SYSTEM</a:t>
            </a:r>
            <a:endParaRPr sz="2400">
              <a:latin typeface="Times New Roman"/>
              <a:cs typeface="Times New Roman"/>
            </a:endParaRPr>
          </a:p>
          <a:p>
            <a:pPr algn="ctr" marR="735965">
              <a:lnSpc>
                <a:spcPts val="2800"/>
              </a:lnSpc>
            </a:pPr>
            <a:r>
              <a:rPr dirty="0" sz="2400" spc="-25" b="1">
                <a:latin typeface="Times New Roman"/>
                <a:cs typeface="Times New Roman"/>
              </a:rPr>
              <a:t>At</a:t>
            </a:r>
            <a:endParaRPr sz="2400">
              <a:latin typeface="Times New Roman"/>
              <a:cs typeface="Times New Roman"/>
            </a:endParaRPr>
          </a:p>
          <a:p>
            <a:pPr algn="ctr" marR="736600">
              <a:lnSpc>
                <a:spcPts val="3800"/>
              </a:lnSpc>
            </a:pPr>
            <a:r>
              <a:rPr dirty="0" sz="3200">
                <a:solidFill>
                  <a:srgbClr val="FF0000"/>
                </a:solidFill>
                <a:latin typeface="Calibri"/>
                <a:cs typeface="Calibri"/>
              </a:rPr>
              <a:t>Edunet</a:t>
            </a:r>
            <a:r>
              <a:rPr dirty="0" sz="3200" spc="-1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FF0000"/>
                </a:solidFill>
                <a:latin typeface="Calibri"/>
                <a:cs typeface="Calibri"/>
              </a:rPr>
              <a:t>Foundation</a:t>
            </a:r>
            <a:endParaRPr sz="32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1255"/>
              </a:spcBef>
            </a:pPr>
            <a:r>
              <a:rPr dirty="0" sz="2400" spc="-10" b="1">
                <a:latin typeface="Times New Roman"/>
                <a:cs typeface="Times New Roman"/>
              </a:rPr>
              <a:t>Presented</a:t>
            </a:r>
            <a:r>
              <a:rPr dirty="0" sz="2400" spc="-130" b="1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Times New Roman"/>
                <a:cs typeface="Times New Roman"/>
              </a:rPr>
              <a:t>By:-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84623" y="1154910"/>
            <a:ext cx="5640070" cy="3474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6080" indent="-37338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86080" algn="l"/>
              </a:tabLst>
            </a:pPr>
            <a:r>
              <a:rPr dirty="0" sz="2800" spc="-10" b="1">
                <a:latin typeface="Calibri"/>
                <a:cs typeface="Calibri"/>
              </a:rPr>
              <a:t>Introduction</a:t>
            </a:r>
            <a:endParaRPr sz="2800">
              <a:latin typeface="Calibri"/>
              <a:cs typeface="Calibri"/>
            </a:endParaRPr>
          </a:p>
          <a:p>
            <a:pPr marL="386080" indent="-373380">
              <a:lnSpc>
                <a:spcPct val="100000"/>
              </a:lnSpc>
              <a:spcBef>
                <a:spcPts val="40"/>
              </a:spcBef>
              <a:buAutoNum type="arabicPeriod"/>
              <a:tabLst>
                <a:tab pos="386080" algn="l"/>
              </a:tabLst>
            </a:pPr>
            <a:r>
              <a:rPr dirty="0" sz="2800" spc="-10" b="1">
                <a:latin typeface="Calibri"/>
                <a:cs typeface="Calibri"/>
              </a:rPr>
              <a:t>Objectives</a:t>
            </a:r>
            <a:endParaRPr sz="2800">
              <a:latin typeface="Calibri"/>
              <a:cs typeface="Calibri"/>
            </a:endParaRPr>
          </a:p>
          <a:p>
            <a:pPr marL="386080" indent="-373380">
              <a:lnSpc>
                <a:spcPct val="100000"/>
              </a:lnSpc>
              <a:spcBef>
                <a:spcPts val="40"/>
              </a:spcBef>
              <a:buAutoNum type="arabicPeriod"/>
              <a:tabLst>
                <a:tab pos="386080" algn="l"/>
              </a:tabLst>
            </a:pPr>
            <a:r>
              <a:rPr dirty="0" sz="2800" b="1">
                <a:latin typeface="Calibri"/>
                <a:cs typeface="Calibri"/>
              </a:rPr>
              <a:t>Problem</a:t>
            </a:r>
            <a:r>
              <a:rPr dirty="0" sz="2800" spc="-13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Statement</a:t>
            </a:r>
            <a:endParaRPr sz="2800">
              <a:latin typeface="Calibri"/>
              <a:cs typeface="Calibri"/>
            </a:endParaRPr>
          </a:p>
          <a:p>
            <a:pPr marL="386080" indent="-373380">
              <a:lnSpc>
                <a:spcPct val="100000"/>
              </a:lnSpc>
              <a:spcBef>
                <a:spcPts val="40"/>
              </a:spcBef>
              <a:buAutoNum type="arabicPeriod"/>
              <a:tabLst>
                <a:tab pos="386080" algn="l"/>
              </a:tabLst>
            </a:pPr>
            <a:r>
              <a:rPr dirty="0" sz="2800" spc="-20" b="1">
                <a:latin typeface="Calibri"/>
                <a:cs typeface="Calibri"/>
              </a:rPr>
              <a:t>Technologies</a:t>
            </a:r>
            <a:r>
              <a:rPr dirty="0" sz="2800" spc="-70" b="1">
                <a:latin typeface="Calibri"/>
                <a:cs typeface="Calibri"/>
              </a:rPr>
              <a:t> </a:t>
            </a:r>
            <a:r>
              <a:rPr dirty="0" sz="2800" spc="-20" b="1">
                <a:latin typeface="Calibri"/>
                <a:cs typeface="Calibri"/>
              </a:rPr>
              <a:t>Used</a:t>
            </a:r>
            <a:endParaRPr sz="2800">
              <a:latin typeface="Calibri"/>
              <a:cs typeface="Calibri"/>
            </a:endParaRPr>
          </a:p>
          <a:p>
            <a:pPr marL="386080" indent="-373380">
              <a:lnSpc>
                <a:spcPct val="100000"/>
              </a:lnSpc>
              <a:spcBef>
                <a:spcPts val="40"/>
              </a:spcBef>
              <a:buAutoNum type="arabicPeriod"/>
              <a:tabLst>
                <a:tab pos="386080" algn="l"/>
              </a:tabLst>
            </a:pPr>
            <a:r>
              <a:rPr dirty="0" sz="2800" b="1">
                <a:latin typeface="Calibri"/>
                <a:cs typeface="Calibri"/>
              </a:rPr>
              <a:t>Datasets</a:t>
            </a:r>
            <a:r>
              <a:rPr dirty="0" sz="2800" spc="-7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&amp;</a:t>
            </a:r>
            <a:r>
              <a:rPr dirty="0" sz="2800" spc="-6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ML</a:t>
            </a:r>
            <a:r>
              <a:rPr dirty="0" sz="2800" spc="-7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Models</a:t>
            </a:r>
            <a:endParaRPr sz="2800">
              <a:latin typeface="Calibri"/>
              <a:cs typeface="Calibri"/>
            </a:endParaRPr>
          </a:p>
          <a:p>
            <a:pPr marL="386080" indent="-373380">
              <a:lnSpc>
                <a:spcPct val="100000"/>
              </a:lnSpc>
              <a:spcBef>
                <a:spcPts val="40"/>
              </a:spcBef>
              <a:buAutoNum type="arabicPeriod"/>
              <a:tabLst>
                <a:tab pos="386080" algn="l"/>
              </a:tabLst>
            </a:pPr>
            <a:r>
              <a:rPr dirty="0" sz="2800" spc="-10" b="1">
                <a:latin typeface="Calibri"/>
                <a:cs typeface="Calibri"/>
              </a:rPr>
              <a:t>System</a:t>
            </a:r>
            <a:r>
              <a:rPr dirty="0" sz="2800" spc="-8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Architecture</a:t>
            </a:r>
            <a:r>
              <a:rPr dirty="0" sz="2800" spc="-8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&amp;</a:t>
            </a:r>
            <a:r>
              <a:rPr dirty="0" sz="2800" spc="-8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Workflow</a:t>
            </a:r>
            <a:endParaRPr sz="2800">
              <a:latin typeface="Calibri"/>
              <a:cs typeface="Calibri"/>
            </a:endParaRPr>
          </a:p>
          <a:p>
            <a:pPr marL="386080" indent="-373380">
              <a:lnSpc>
                <a:spcPct val="100000"/>
              </a:lnSpc>
              <a:spcBef>
                <a:spcPts val="40"/>
              </a:spcBef>
              <a:buAutoNum type="arabicPeriod"/>
              <a:tabLst>
                <a:tab pos="386080" algn="l"/>
              </a:tabLst>
            </a:pPr>
            <a:r>
              <a:rPr dirty="0" sz="2800" b="1">
                <a:latin typeface="Calibri"/>
                <a:cs typeface="Calibri"/>
              </a:rPr>
              <a:t>Results</a:t>
            </a:r>
            <a:r>
              <a:rPr dirty="0" sz="2800" spc="-5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&amp;</a:t>
            </a:r>
            <a:r>
              <a:rPr dirty="0" sz="2800" spc="-5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Analysis</a:t>
            </a:r>
            <a:endParaRPr sz="2800">
              <a:latin typeface="Calibri"/>
              <a:cs typeface="Calibri"/>
            </a:endParaRPr>
          </a:p>
          <a:p>
            <a:pPr marL="386080" indent="-373380">
              <a:lnSpc>
                <a:spcPct val="100000"/>
              </a:lnSpc>
              <a:spcBef>
                <a:spcPts val="40"/>
              </a:spcBef>
              <a:buAutoNum type="arabicPeriod"/>
              <a:tabLst>
                <a:tab pos="386080" algn="l"/>
              </a:tabLst>
            </a:pPr>
            <a:r>
              <a:rPr dirty="0" sz="2800" b="1">
                <a:latin typeface="Calibri"/>
                <a:cs typeface="Calibri"/>
              </a:rPr>
              <a:t>Conclusion</a:t>
            </a:r>
            <a:r>
              <a:rPr dirty="0" sz="2800" spc="-5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&amp;</a:t>
            </a:r>
            <a:r>
              <a:rPr dirty="0" sz="2800" spc="-4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Future</a:t>
            </a:r>
            <a:r>
              <a:rPr dirty="0" sz="2800" spc="-5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Enhancements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53353" y="92773"/>
            <a:ext cx="147447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10"/>
              <a:t>INDEX</a:t>
            </a:r>
            <a:endParaRPr sz="4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76176" rIns="0" bIns="0" rtlCol="0" vert="horz">
            <a:spAutoFit/>
          </a:bodyPr>
          <a:lstStyle/>
          <a:p>
            <a:pPr marL="1728470">
              <a:lnSpc>
                <a:spcPct val="100000"/>
              </a:lnSpc>
              <a:spcBef>
                <a:spcPts val="100"/>
              </a:spcBef>
            </a:pPr>
            <a:r>
              <a:rPr dirty="0" sz="4400" spc="-95"/>
              <a:t>INTRODUCTION</a:t>
            </a:r>
            <a:endParaRPr sz="4400"/>
          </a:p>
        </p:txBody>
      </p:sp>
      <p:sp>
        <p:nvSpPr>
          <p:cNvPr id="3" name="object 3" descr=""/>
          <p:cNvSpPr txBox="1"/>
          <p:nvPr/>
        </p:nvSpPr>
        <p:spPr>
          <a:xfrm>
            <a:off x="1399539" y="1730388"/>
            <a:ext cx="682815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00"/>
              </a:spcBef>
              <a:buChar char="•"/>
              <a:tabLst>
                <a:tab pos="329565" algn="l"/>
              </a:tabLst>
            </a:pPr>
            <a:r>
              <a:rPr dirty="0" sz="3000" spc="-10">
                <a:latin typeface="Times New Roman"/>
                <a:cs typeface="Times New Roman"/>
              </a:rPr>
              <a:t>AI-</a:t>
            </a:r>
            <a:r>
              <a:rPr dirty="0" sz="3000">
                <a:latin typeface="Times New Roman"/>
                <a:cs typeface="Times New Roman"/>
              </a:rPr>
              <a:t>powered</a:t>
            </a:r>
            <a:r>
              <a:rPr dirty="0" sz="3000" spc="-8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medical</a:t>
            </a:r>
            <a:r>
              <a:rPr dirty="0" sz="3000" spc="-9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screening</a:t>
            </a:r>
            <a:r>
              <a:rPr dirty="0" sz="3000" spc="-85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application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99539" y="2051684"/>
            <a:ext cx="8448040" cy="2651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9570">
              <a:lnSpc>
                <a:spcPts val="2385"/>
              </a:lnSpc>
              <a:spcBef>
                <a:spcPts val="100"/>
              </a:spcBef>
            </a:pPr>
            <a:r>
              <a:rPr dirty="0" sz="2000" spc="-5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29565" indent="-316865">
              <a:lnSpc>
                <a:spcPts val="3585"/>
              </a:lnSpc>
              <a:buChar char="•"/>
              <a:tabLst>
                <a:tab pos="329565" algn="l"/>
              </a:tabLst>
            </a:pPr>
            <a:r>
              <a:rPr dirty="0" sz="3000">
                <a:latin typeface="Times New Roman"/>
                <a:cs typeface="Times New Roman"/>
              </a:rPr>
              <a:t>Predicts</a:t>
            </a:r>
            <a:r>
              <a:rPr dirty="0" sz="3000" spc="-70">
                <a:latin typeface="Times New Roman"/>
                <a:cs typeface="Times New Roman"/>
              </a:rPr>
              <a:t> </a:t>
            </a:r>
            <a:r>
              <a:rPr dirty="0" sz="3000" b="1">
                <a:latin typeface="Times New Roman"/>
                <a:cs typeface="Times New Roman"/>
              </a:rPr>
              <a:t>Diabetes,</a:t>
            </a:r>
            <a:r>
              <a:rPr dirty="0" sz="3000" spc="-65" b="1">
                <a:latin typeface="Times New Roman"/>
                <a:cs typeface="Times New Roman"/>
              </a:rPr>
              <a:t> </a:t>
            </a:r>
            <a:r>
              <a:rPr dirty="0" sz="3000" b="1">
                <a:latin typeface="Times New Roman"/>
                <a:cs typeface="Times New Roman"/>
              </a:rPr>
              <a:t>Heart</a:t>
            </a:r>
            <a:r>
              <a:rPr dirty="0" sz="3000" spc="-65" b="1">
                <a:latin typeface="Times New Roman"/>
                <a:cs typeface="Times New Roman"/>
              </a:rPr>
              <a:t> </a:t>
            </a:r>
            <a:r>
              <a:rPr dirty="0" sz="3000" b="1">
                <a:latin typeface="Times New Roman"/>
                <a:cs typeface="Times New Roman"/>
              </a:rPr>
              <a:t>Disease</a:t>
            </a:r>
            <a:r>
              <a:rPr dirty="0" sz="3000" spc="-65" b="1">
                <a:latin typeface="Times New Roman"/>
                <a:cs typeface="Times New Roman"/>
              </a:rPr>
              <a:t> </a:t>
            </a:r>
            <a:r>
              <a:rPr dirty="0" sz="3000" b="1">
                <a:latin typeface="Times New Roman"/>
                <a:cs typeface="Times New Roman"/>
              </a:rPr>
              <a:t>&amp;</a:t>
            </a:r>
            <a:r>
              <a:rPr dirty="0" sz="3000" spc="-65" b="1">
                <a:latin typeface="Times New Roman"/>
                <a:cs typeface="Times New Roman"/>
              </a:rPr>
              <a:t> </a:t>
            </a:r>
            <a:r>
              <a:rPr dirty="0" sz="3000" spc="-10" b="1">
                <a:latin typeface="Times New Roman"/>
                <a:cs typeface="Times New Roman"/>
              </a:rPr>
              <a:t>Parkinson’s</a:t>
            </a:r>
            <a:endParaRPr sz="3000">
              <a:latin typeface="Times New Roman"/>
              <a:cs typeface="Times New Roman"/>
            </a:endParaRPr>
          </a:p>
          <a:p>
            <a:pPr marL="329565" indent="-316865">
              <a:lnSpc>
                <a:spcPct val="100000"/>
              </a:lnSpc>
              <a:spcBef>
                <a:spcPts val="1300"/>
              </a:spcBef>
              <a:buChar char="•"/>
              <a:tabLst>
                <a:tab pos="329565" algn="l"/>
              </a:tabLst>
            </a:pPr>
            <a:r>
              <a:rPr dirty="0" sz="3000">
                <a:latin typeface="Times New Roman"/>
                <a:cs typeface="Times New Roman"/>
              </a:rPr>
              <a:t>Uses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 spc="-20">
                <a:latin typeface="Times New Roman"/>
                <a:cs typeface="Times New Roman"/>
              </a:rPr>
              <a:t>pre-</a:t>
            </a:r>
            <a:r>
              <a:rPr dirty="0" sz="3000">
                <a:latin typeface="Times New Roman"/>
                <a:cs typeface="Times New Roman"/>
              </a:rPr>
              <a:t>trained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ML</a:t>
            </a:r>
            <a:r>
              <a:rPr dirty="0" sz="3000" spc="-1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models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with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medical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datasets</a:t>
            </a:r>
            <a:endParaRPr sz="3000">
              <a:latin typeface="Times New Roman"/>
              <a:cs typeface="Times New Roman"/>
            </a:endParaRPr>
          </a:p>
          <a:p>
            <a:pPr marL="329565" indent="-316865">
              <a:lnSpc>
                <a:spcPct val="100000"/>
              </a:lnSpc>
              <a:spcBef>
                <a:spcPts val="1300"/>
              </a:spcBef>
              <a:buChar char="•"/>
              <a:tabLst>
                <a:tab pos="329565" algn="l"/>
              </a:tabLst>
            </a:pPr>
            <a:r>
              <a:rPr dirty="0" sz="3000" spc="-50">
                <a:latin typeface="Times New Roman"/>
                <a:cs typeface="Times New Roman"/>
              </a:rPr>
              <a:t>Web</a:t>
            </a:r>
            <a:r>
              <a:rPr dirty="0" sz="3000" spc="-11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application</a:t>
            </a:r>
            <a:r>
              <a:rPr dirty="0" sz="3000" spc="-10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developed</a:t>
            </a:r>
            <a:r>
              <a:rPr dirty="0" sz="3000" spc="-10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using</a:t>
            </a:r>
            <a:r>
              <a:rPr dirty="0" sz="3000" spc="-110">
                <a:latin typeface="Times New Roman"/>
                <a:cs typeface="Times New Roman"/>
              </a:rPr>
              <a:t> </a:t>
            </a:r>
            <a:r>
              <a:rPr dirty="0" sz="3000" spc="-10" b="1">
                <a:latin typeface="Times New Roman"/>
                <a:cs typeface="Times New Roman"/>
              </a:rPr>
              <a:t>Streamlit</a:t>
            </a:r>
            <a:endParaRPr sz="3000">
              <a:latin typeface="Times New Roman"/>
              <a:cs typeface="Times New Roman"/>
            </a:endParaRPr>
          </a:p>
          <a:p>
            <a:pPr marL="329565" indent="-316865">
              <a:lnSpc>
                <a:spcPct val="100000"/>
              </a:lnSpc>
              <a:spcBef>
                <a:spcPts val="1300"/>
              </a:spcBef>
              <a:buChar char="•"/>
              <a:tabLst>
                <a:tab pos="329565" algn="l"/>
              </a:tabLst>
            </a:pPr>
            <a:r>
              <a:rPr dirty="0" sz="3000">
                <a:latin typeface="Times New Roman"/>
                <a:cs typeface="Times New Roman"/>
              </a:rPr>
              <a:t>Provides</a:t>
            </a:r>
            <a:r>
              <a:rPr dirty="0" sz="3000" spc="-7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quick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and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accessible</a:t>
            </a:r>
            <a:r>
              <a:rPr dirty="0" sz="3000" spc="-7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disease</a:t>
            </a:r>
            <a:r>
              <a:rPr dirty="0" sz="3000" spc="-7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risk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estimation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317" rIns="0" bIns="0" rtlCol="0" vert="horz">
            <a:spAutoFit/>
          </a:bodyPr>
          <a:lstStyle/>
          <a:p>
            <a:pPr marL="1231900">
              <a:lnSpc>
                <a:spcPct val="100000"/>
              </a:lnSpc>
              <a:spcBef>
                <a:spcPts val="100"/>
              </a:spcBef>
            </a:pPr>
            <a:r>
              <a:rPr dirty="0" sz="4400" spc="-100"/>
              <a:t>OBJECTIVES</a:t>
            </a:r>
            <a:endParaRPr sz="4400"/>
          </a:p>
        </p:txBody>
      </p:sp>
      <p:sp>
        <p:nvSpPr>
          <p:cNvPr id="3" name="object 3" descr=""/>
          <p:cNvSpPr txBox="1"/>
          <p:nvPr/>
        </p:nvSpPr>
        <p:spPr>
          <a:xfrm>
            <a:off x="1803400" y="1772164"/>
            <a:ext cx="7331709" cy="3441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30200" marR="5080" indent="-317500">
              <a:lnSpc>
                <a:spcPct val="102800"/>
              </a:lnSpc>
              <a:buChar char="•"/>
              <a:tabLst>
                <a:tab pos="330200" algn="l"/>
              </a:tabLst>
            </a:pPr>
            <a:r>
              <a:rPr dirty="0" sz="3000" spc="-50">
                <a:latin typeface="Times New Roman"/>
                <a:cs typeface="Times New Roman"/>
              </a:rPr>
              <a:t>To</a:t>
            </a:r>
            <a:r>
              <a:rPr dirty="0" sz="3000" spc="-10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develop</a:t>
            </a:r>
            <a:r>
              <a:rPr dirty="0" sz="3000" spc="-9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</a:t>
            </a:r>
            <a:r>
              <a:rPr dirty="0" sz="3000" spc="-10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unified</a:t>
            </a:r>
            <a:r>
              <a:rPr dirty="0" sz="3000" spc="-9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platform</a:t>
            </a:r>
            <a:r>
              <a:rPr dirty="0" sz="3000" spc="-10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for</a:t>
            </a:r>
            <a:r>
              <a:rPr dirty="0" sz="3000" spc="-9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predicting</a:t>
            </a:r>
            <a:r>
              <a:rPr dirty="0" sz="3000" spc="-95">
                <a:latin typeface="Times New Roman"/>
                <a:cs typeface="Times New Roman"/>
              </a:rPr>
              <a:t> </a:t>
            </a:r>
            <a:r>
              <a:rPr dirty="0" sz="3000" spc="-50">
                <a:latin typeface="Times New Roman"/>
                <a:cs typeface="Times New Roman"/>
              </a:rPr>
              <a:t>3 </a:t>
            </a:r>
            <a:r>
              <a:rPr dirty="0" sz="3000" spc="-10">
                <a:latin typeface="Times New Roman"/>
                <a:cs typeface="Times New Roman"/>
              </a:rPr>
              <a:t>diseases</a:t>
            </a:r>
            <a:endParaRPr sz="3000">
              <a:latin typeface="Times New Roman"/>
              <a:cs typeface="Times New Roman"/>
            </a:endParaRPr>
          </a:p>
          <a:p>
            <a:pPr marL="329565" indent="-316865">
              <a:lnSpc>
                <a:spcPct val="100000"/>
              </a:lnSpc>
              <a:spcBef>
                <a:spcPts val="1300"/>
              </a:spcBef>
              <a:buChar char="•"/>
              <a:tabLst>
                <a:tab pos="329565" algn="l"/>
              </a:tabLst>
            </a:pPr>
            <a:r>
              <a:rPr dirty="0" sz="3000">
                <a:latin typeface="Times New Roman"/>
                <a:cs typeface="Times New Roman"/>
              </a:rPr>
              <a:t>Achieve</a:t>
            </a:r>
            <a:r>
              <a:rPr dirty="0" sz="3000" spc="-8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accuracy</a:t>
            </a:r>
            <a:r>
              <a:rPr dirty="0" sz="3000" spc="-7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range</a:t>
            </a:r>
            <a:r>
              <a:rPr dirty="0" sz="3000" spc="-8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of</a:t>
            </a:r>
            <a:r>
              <a:rPr dirty="0" sz="3000" spc="-80">
                <a:latin typeface="Times New Roman"/>
                <a:cs typeface="Times New Roman"/>
              </a:rPr>
              <a:t> </a:t>
            </a:r>
            <a:r>
              <a:rPr dirty="0" sz="3000" spc="-10" b="1">
                <a:latin typeface="Times New Roman"/>
                <a:cs typeface="Times New Roman"/>
              </a:rPr>
              <a:t>75–87%</a:t>
            </a:r>
            <a:endParaRPr sz="3000">
              <a:latin typeface="Times New Roman"/>
              <a:cs typeface="Times New Roman"/>
            </a:endParaRPr>
          </a:p>
          <a:p>
            <a:pPr marL="329565" indent="-316865">
              <a:lnSpc>
                <a:spcPct val="100000"/>
              </a:lnSpc>
              <a:spcBef>
                <a:spcPts val="1300"/>
              </a:spcBef>
              <a:buChar char="•"/>
              <a:tabLst>
                <a:tab pos="329565" algn="l"/>
              </a:tabLst>
            </a:pPr>
            <a:r>
              <a:rPr dirty="0" sz="3000">
                <a:latin typeface="Times New Roman"/>
                <a:cs typeface="Times New Roman"/>
              </a:rPr>
              <a:t>Provide</a:t>
            </a:r>
            <a:r>
              <a:rPr dirty="0" sz="3000" spc="-8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easy</a:t>
            </a:r>
            <a:r>
              <a:rPr dirty="0" sz="3000" spc="-7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user</a:t>
            </a:r>
            <a:r>
              <a:rPr dirty="0" sz="3000" spc="-7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interface</a:t>
            </a:r>
            <a:r>
              <a:rPr dirty="0" sz="3000" spc="-8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through</a:t>
            </a:r>
            <a:r>
              <a:rPr dirty="0" sz="3000" spc="-8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Streamlit</a:t>
            </a:r>
            <a:endParaRPr sz="3000">
              <a:latin typeface="Times New Roman"/>
              <a:cs typeface="Times New Roman"/>
            </a:endParaRPr>
          </a:p>
          <a:p>
            <a:pPr marL="329565" indent="-316865">
              <a:lnSpc>
                <a:spcPct val="100000"/>
              </a:lnSpc>
              <a:spcBef>
                <a:spcPts val="1300"/>
              </a:spcBef>
              <a:buChar char="•"/>
              <a:tabLst>
                <a:tab pos="329565" algn="l"/>
              </a:tabLst>
            </a:pPr>
            <a:r>
              <a:rPr dirty="0" sz="3000">
                <a:latin typeface="Times New Roman"/>
                <a:cs typeface="Times New Roman"/>
              </a:rPr>
              <a:t>Perform</a:t>
            </a:r>
            <a:r>
              <a:rPr dirty="0" sz="3000" spc="-7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prediction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in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 spc="-20">
                <a:latin typeface="Times New Roman"/>
                <a:cs typeface="Times New Roman"/>
              </a:rPr>
              <a:t>real-time</a:t>
            </a:r>
            <a:endParaRPr sz="3000">
              <a:latin typeface="Times New Roman"/>
              <a:cs typeface="Times New Roman"/>
            </a:endParaRPr>
          </a:p>
          <a:p>
            <a:pPr marL="329565" indent="-316865">
              <a:lnSpc>
                <a:spcPct val="100000"/>
              </a:lnSpc>
              <a:spcBef>
                <a:spcPts val="1300"/>
              </a:spcBef>
              <a:buChar char="•"/>
              <a:tabLst>
                <a:tab pos="329565" algn="l"/>
              </a:tabLst>
            </a:pPr>
            <a:r>
              <a:rPr dirty="0" sz="3000">
                <a:latin typeface="Times New Roman"/>
                <a:cs typeface="Times New Roman"/>
              </a:rPr>
              <a:t>Maintain</a:t>
            </a:r>
            <a:r>
              <a:rPr dirty="0" sz="3000" spc="-9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scalability</a:t>
            </a:r>
            <a:r>
              <a:rPr dirty="0" sz="3000" spc="-9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and</a:t>
            </a:r>
            <a:r>
              <a:rPr dirty="0" sz="3000" spc="-9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modular</a:t>
            </a:r>
            <a:r>
              <a:rPr dirty="0" sz="3000" spc="-9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architecture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8810" rIns="0" bIns="0" rtlCol="0" vert="horz">
            <a:spAutoFit/>
          </a:bodyPr>
          <a:lstStyle/>
          <a:p>
            <a:pPr marL="411480">
              <a:lnSpc>
                <a:spcPct val="100000"/>
              </a:lnSpc>
              <a:spcBef>
                <a:spcPts val="100"/>
              </a:spcBef>
            </a:pPr>
            <a:r>
              <a:rPr dirty="0" sz="4400"/>
              <a:t>PROBLEM</a:t>
            </a:r>
            <a:r>
              <a:rPr dirty="0" sz="4400" spc="-135"/>
              <a:t> </a:t>
            </a:r>
            <a:r>
              <a:rPr dirty="0" sz="4400" spc="-70"/>
              <a:t>STATEMENTS</a:t>
            </a:r>
            <a:endParaRPr sz="4400"/>
          </a:p>
        </p:txBody>
      </p:sp>
      <p:sp>
        <p:nvSpPr>
          <p:cNvPr id="3" name="object 3" descr=""/>
          <p:cNvSpPr txBox="1"/>
          <p:nvPr/>
        </p:nvSpPr>
        <p:spPr>
          <a:xfrm>
            <a:off x="407360" y="1503500"/>
            <a:ext cx="11560810" cy="3606800"/>
          </a:xfrm>
          <a:prstGeom prst="rect">
            <a:avLst/>
          </a:prstGeom>
        </p:spPr>
        <p:txBody>
          <a:bodyPr wrap="square" lIns="0" tIns="177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dirty="0" sz="3000">
                <a:latin typeface="Times New Roman"/>
                <a:cs typeface="Times New Roman"/>
              </a:rPr>
              <a:t>Existing</a:t>
            </a:r>
            <a:r>
              <a:rPr dirty="0" sz="3000" spc="-9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medical</a:t>
            </a:r>
            <a:r>
              <a:rPr dirty="0" sz="3000" spc="-9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diagnosis</a:t>
            </a:r>
            <a:r>
              <a:rPr dirty="0" sz="3000" spc="-9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issues:</a:t>
            </a:r>
            <a:endParaRPr sz="3000">
              <a:latin typeface="Times New Roman"/>
              <a:cs typeface="Times New Roman"/>
            </a:endParaRPr>
          </a:p>
          <a:p>
            <a:pPr marL="469265" indent="-316865">
              <a:lnSpc>
                <a:spcPct val="100000"/>
              </a:lnSpc>
              <a:spcBef>
                <a:spcPts val="1300"/>
              </a:spcBef>
              <a:buChar char="•"/>
              <a:tabLst>
                <a:tab pos="469265" algn="l"/>
              </a:tabLst>
            </a:pPr>
            <a:r>
              <a:rPr dirty="0" sz="3000">
                <a:latin typeface="Times New Roman"/>
                <a:cs typeface="Times New Roman"/>
              </a:rPr>
              <a:t>Costly</a:t>
            </a:r>
            <a:r>
              <a:rPr dirty="0" sz="3000" spc="-9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laboratory</a:t>
            </a:r>
            <a:r>
              <a:rPr dirty="0" sz="3000" spc="-9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tests</a:t>
            </a:r>
            <a:endParaRPr sz="3000">
              <a:latin typeface="Times New Roman"/>
              <a:cs typeface="Times New Roman"/>
            </a:endParaRPr>
          </a:p>
          <a:p>
            <a:pPr marL="469265" indent="-316865">
              <a:lnSpc>
                <a:spcPct val="100000"/>
              </a:lnSpc>
              <a:spcBef>
                <a:spcPts val="1300"/>
              </a:spcBef>
              <a:buChar char="•"/>
              <a:tabLst>
                <a:tab pos="469265" algn="l"/>
              </a:tabLst>
            </a:pPr>
            <a:r>
              <a:rPr dirty="0" sz="3000">
                <a:latin typeface="Times New Roman"/>
                <a:cs typeface="Times New Roman"/>
              </a:rPr>
              <a:t>Long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waiting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time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for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reports</a:t>
            </a:r>
            <a:endParaRPr sz="3000">
              <a:latin typeface="Times New Roman"/>
              <a:cs typeface="Times New Roman"/>
            </a:endParaRPr>
          </a:p>
          <a:p>
            <a:pPr marL="469265" indent="-316865">
              <a:lnSpc>
                <a:spcPct val="100000"/>
              </a:lnSpc>
              <a:spcBef>
                <a:spcPts val="1300"/>
              </a:spcBef>
              <a:buChar char="•"/>
              <a:tabLst>
                <a:tab pos="469265" algn="l"/>
              </a:tabLst>
            </a:pPr>
            <a:r>
              <a:rPr dirty="0" sz="3000">
                <a:latin typeface="Times New Roman"/>
                <a:cs typeface="Times New Roman"/>
              </a:rPr>
              <a:t>Limited</a:t>
            </a:r>
            <a:r>
              <a:rPr dirty="0" sz="3000" spc="-9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accessibility</a:t>
            </a:r>
            <a:r>
              <a:rPr dirty="0" sz="3000" spc="-8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in</a:t>
            </a:r>
            <a:r>
              <a:rPr dirty="0" sz="3000" spc="-8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rural</a:t>
            </a:r>
            <a:r>
              <a:rPr dirty="0" sz="3000" spc="-9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areas</a:t>
            </a:r>
            <a:endParaRPr sz="3000">
              <a:latin typeface="Times New Roman"/>
              <a:cs typeface="Times New Roman"/>
            </a:endParaRPr>
          </a:p>
          <a:p>
            <a:pPr marL="469265" indent="-316865">
              <a:lnSpc>
                <a:spcPct val="100000"/>
              </a:lnSpc>
              <a:spcBef>
                <a:spcPts val="1300"/>
              </a:spcBef>
              <a:buChar char="•"/>
              <a:tabLst>
                <a:tab pos="469265" algn="l"/>
              </a:tabLst>
            </a:pPr>
            <a:r>
              <a:rPr dirty="0" sz="3000">
                <a:latin typeface="Times New Roman"/>
                <a:cs typeface="Times New Roman"/>
              </a:rPr>
              <a:t>No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early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screening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facility</a:t>
            </a:r>
            <a:endParaRPr sz="3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Times New Roman"/>
                <a:cs typeface="Times New Roman"/>
              </a:rPr>
              <a:t>Solution:</a:t>
            </a:r>
            <a:r>
              <a:rPr dirty="0" sz="3000" spc="-75" b="1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Fast,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accurate</a:t>
            </a:r>
            <a:r>
              <a:rPr dirty="0" sz="3000" spc="-7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and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accessible</a:t>
            </a:r>
            <a:r>
              <a:rPr dirty="0" sz="3000" spc="-70">
                <a:latin typeface="Times New Roman"/>
                <a:cs typeface="Times New Roman"/>
              </a:rPr>
              <a:t> </a:t>
            </a:r>
            <a:r>
              <a:rPr dirty="0" sz="3000" spc="-20">
                <a:latin typeface="Times New Roman"/>
                <a:cs typeface="Times New Roman"/>
              </a:rPr>
              <a:t>ML-</a:t>
            </a:r>
            <a:r>
              <a:rPr dirty="0" sz="3000">
                <a:latin typeface="Times New Roman"/>
                <a:cs typeface="Times New Roman"/>
              </a:rPr>
              <a:t>based</a:t>
            </a:r>
            <a:r>
              <a:rPr dirty="0" sz="3000" spc="-7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risk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prediction</a:t>
            </a:r>
            <a:r>
              <a:rPr dirty="0" sz="3000" spc="-7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system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29072" y="26671"/>
            <a:ext cx="439356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120"/>
              <a:t>TECHNOLOGY</a:t>
            </a:r>
            <a:r>
              <a:rPr dirty="0" sz="4400" spc="-195"/>
              <a:t> </a:t>
            </a:r>
            <a:r>
              <a:rPr dirty="0" sz="4400" spc="-75"/>
              <a:t>USED</a:t>
            </a:r>
            <a:endParaRPr sz="44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0123" y="5206594"/>
            <a:ext cx="1734309" cy="133197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2264" y="5247753"/>
            <a:ext cx="1219198" cy="124965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08175" y="5363567"/>
            <a:ext cx="1734310" cy="101803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345011" y="794669"/>
            <a:ext cx="7679055" cy="3962400"/>
          </a:xfrm>
          <a:prstGeom prst="rect">
            <a:avLst/>
          </a:prstGeom>
        </p:spPr>
        <p:txBody>
          <a:bodyPr wrap="square" lIns="0" tIns="170180" rIns="0" bIns="0" rtlCol="0" vert="horz">
            <a:spAutoFit/>
          </a:bodyPr>
          <a:lstStyle/>
          <a:p>
            <a:pPr marL="413384" indent="-400685">
              <a:lnSpc>
                <a:spcPct val="100000"/>
              </a:lnSpc>
              <a:spcBef>
                <a:spcPts val="1340"/>
              </a:spcBef>
              <a:buAutoNum type="arabicPeriod"/>
              <a:tabLst>
                <a:tab pos="413384" algn="l"/>
              </a:tabLst>
            </a:pPr>
            <a:r>
              <a:rPr dirty="0" sz="2800" b="1">
                <a:latin typeface="Times New Roman"/>
                <a:cs typeface="Times New Roman"/>
              </a:rPr>
              <a:t>Programming</a:t>
            </a:r>
            <a:r>
              <a:rPr dirty="0" sz="2800" spc="-114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Language:</a:t>
            </a:r>
            <a:r>
              <a:rPr dirty="0" sz="2800" spc="-120" b="1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Python</a:t>
            </a:r>
            <a:endParaRPr sz="2800">
              <a:latin typeface="Times New Roman"/>
              <a:cs typeface="Times New Roman"/>
            </a:endParaRPr>
          </a:p>
          <a:p>
            <a:pPr marL="413384" indent="-400685">
              <a:lnSpc>
                <a:spcPct val="100000"/>
              </a:lnSpc>
              <a:spcBef>
                <a:spcPts val="1240"/>
              </a:spcBef>
              <a:buAutoNum type="arabicPeriod"/>
              <a:tabLst>
                <a:tab pos="413384" algn="l"/>
              </a:tabLst>
            </a:pPr>
            <a:r>
              <a:rPr dirty="0" sz="2800" b="1">
                <a:latin typeface="Times New Roman"/>
                <a:cs typeface="Times New Roman"/>
              </a:rPr>
              <a:t>Libraries:</a:t>
            </a:r>
            <a:r>
              <a:rPr dirty="0" sz="2800" spc="-60" b="1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NumPy,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Pandas,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Scikit-Learn</a:t>
            </a:r>
            <a:endParaRPr sz="2800">
              <a:latin typeface="Times New Roman"/>
              <a:cs typeface="Times New Roman"/>
            </a:endParaRPr>
          </a:p>
          <a:p>
            <a:pPr marL="413384" indent="-400685">
              <a:lnSpc>
                <a:spcPct val="100000"/>
              </a:lnSpc>
              <a:spcBef>
                <a:spcPts val="1240"/>
              </a:spcBef>
              <a:buAutoNum type="arabicPeriod"/>
              <a:tabLst>
                <a:tab pos="413384" algn="l"/>
              </a:tabLst>
            </a:pPr>
            <a:r>
              <a:rPr dirty="0" sz="2800" b="1">
                <a:latin typeface="Times New Roman"/>
                <a:cs typeface="Times New Roman"/>
              </a:rPr>
              <a:t>GUI/Deployment</a:t>
            </a:r>
            <a:r>
              <a:rPr dirty="0" sz="2800" spc="-9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Framework:</a:t>
            </a:r>
            <a:r>
              <a:rPr dirty="0" sz="2800" spc="-100" b="1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Streamlit</a:t>
            </a:r>
            <a:endParaRPr sz="2800">
              <a:latin typeface="Times New Roman"/>
              <a:cs typeface="Times New Roman"/>
            </a:endParaRPr>
          </a:p>
          <a:p>
            <a:pPr marL="413384" indent="-400685">
              <a:lnSpc>
                <a:spcPct val="100000"/>
              </a:lnSpc>
              <a:spcBef>
                <a:spcPts val="1240"/>
              </a:spcBef>
              <a:buAutoNum type="arabicPeriod"/>
              <a:tabLst>
                <a:tab pos="413384" algn="l"/>
              </a:tabLst>
            </a:pPr>
            <a:r>
              <a:rPr dirty="0" sz="2800" b="1">
                <a:latin typeface="Times New Roman"/>
                <a:cs typeface="Times New Roman"/>
              </a:rPr>
              <a:t>Model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Storage: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Pickle</a:t>
            </a:r>
            <a:endParaRPr sz="2800">
              <a:latin typeface="Times New Roman"/>
              <a:cs typeface="Times New Roman"/>
            </a:endParaRPr>
          </a:p>
          <a:p>
            <a:pPr marL="413384" indent="-400685">
              <a:lnSpc>
                <a:spcPct val="100000"/>
              </a:lnSpc>
              <a:spcBef>
                <a:spcPts val="1240"/>
              </a:spcBef>
              <a:buAutoNum type="arabicPeriod"/>
              <a:tabLst>
                <a:tab pos="413384" algn="l"/>
              </a:tabLst>
            </a:pPr>
            <a:r>
              <a:rPr dirty="0" sz="2800" spc="-25" b="1">
                <a:latin typeface="Times New Roman"/>
                <a:cs typeface="Times New Roman"/>
              </a:rPr>
              <a:t>Tools: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VS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Code,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Git,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GitHub,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Google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Colab</a:t>
            </a:r>
            <a:endParaRPr sz="2800">
              <a:latin typeface="Times New Roman"/>
              <a:cs typeface="Times New Roman"/>
            </a:endParaRPr>
          </a:p>
          <a:p>
            <a:pPr marL="413384" marR="5080" indent="-401320">
              <a:lnSpc>
                <a:spcPct val="101200"/>
              </a:lnSpc>
              <a:spcBef>
                <a:spcPts val="1200"/>
              </a:spcBef>
              <a:buAutoNum type="arabicPeriod"/>
              <a:tabLst>
                <a:tab pos="413384" algn="l"/>
              </a:tabLst>
            </a:pPr>
            <a:r>
              <a:rPr dirty="0" sz="2800" b="1">
                <a:latin typeface="Times New Roman"/>
                <a:cs typeface="Times New Roman"/>
              </a:rPr>
              <a:t>GithubLink:</a:t>
            </a:r>
            <a:r>
              <a:rPr dirty="0" sz="2800" spc="-125" b="1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https:https://github.com/Kishlay671/ Multiple_Disease_Prediction_System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7333" y="305462"/>
            <a:ext cx="5166995" cy="649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100" spc="-195"/>
              <a:t>DATASETS</a:t>
            </a:r>
            <a:r>
              <a:rPr dirty="0" sz="4100" spc="-190"/>
              <a:t> </a:t>
            </a:r>
            <a:r>
              <a:rPr dirty="0" sz="4100"/>
              <a:t>&amp;</a:t>
            </a:r>
            <a:r>
              <a:rPr dirty="0" sz="4100" spc="-204"/>
              <a:t> </a:t>
            </a:r>
            <a:r>
              <a:rPr dirty="0" sz="4100" spc="-80"/>
              <a:t>ML</a:t>
            </a:r>
            <a:r>
              <a:rPr dirty="0" sz="4100" spc="-190"/>
              <a:t> </a:t>
            </a:r>
            <a:r>
              <a:rPr dirty="0" sz="4100" spc="-50"/>
              <a:t>MODELS</a:t>
            </a:r>
            <a:endParaRPr sz="4100"/>
          </a:p>
        </p:txBody>
      </p:sp>
      <p:sp>
        <p:nvSpPr>
          <p:cNvPr id="3" name="object 3" descr=""/>
          <p:cNvSpPr txBox="1"/>
          <p:nvPr/>
        </p:nvSpPr>
        <p:spPr>
          <a:xfrm>
            <a:off x="1433066" y="1392393"/>
            <a:ext cx="7594600" cy="4398010"/>
          </a:xfrm>
          <a:prstGeom prst="rect">
            <a:avLst/>
          </a:prstGeom>
        </p:spPr>
        <p:txBody>
          <a:bodyPr wrap="square" lIns="0" tIns="177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dirty="0" sz="3000" b="1">
                <a:latin typeface="Times New Roman"/>
                <a:cs typeface="Times New Roman"/>
              </a:rPr>
              <a:t>Datasets</a:t>
            </a:r>
            <a:r>
              <a:rPr dirty="0" sz="3000" spc="-105" b="1">
                <a:latin typeface="Times New Roman"/>
                <a:cs typeface="Times New Roman"/>
              </a:rPr>
              <a:t> </a:t>
            </a:r>
            <a:r>
              <a:rPr dirty="0" sz="3000" b="1">
                <a:latin typeface="Times New Roman"/>
                <a:cs typeface="Times New Roman"/>
              </a:rPr>
              <a:t>Used:(From</a:t>
            </a:r>
            <a:r>
              <a:rPr dirty="0" sz="3000" spc="-105" b="1">
                <a:latin typeface="Times New Roman"/>
                <a:cs typeface="Times New Roman"/>
              </a:rPr>
              <a:t> </a:t>
            </a:r>
            <a:r>
              <a:rPr dirty="0" sz="3000" spc="-10" b="1">
                <a:latin typeface="Times New Roman"/>
                <a:cs typeface="Times New Roman"/>
              </a:rPr>
              <a:t>Kaggle)</a:t>
            </a:r>
            <a:endParaRPr sz="3000">
              <a:latin typeface="Times New Roman"/>
              <a:cs typeface="Times New Roman"/>
            </a:endParaRPr>
          </a:p>
          <a:p>
            <a:pPr marL="469265" indent="-316865">
              <a:lnSpc>
                <a:spcPct val="100000"/>
              </a:lnSpc>
              <a:spcBef>
                <a:spcPts val="1300"/>
              </a:spcBef>
              <a:buChar char="•"/>
              <a:tabLst>
                <a:tab pos="469265" algn="l"/>
              </a:tabLst>
            </a:pPr>
            <a:r>
              <a:rPr dirty="0" sz="3000">
                <a:latin typeface="Times New Roman"/>
                <a:cs typeface="Times New Roman"/>
              </a:rPr>
              <a:t>Diabetes:</a:t>
            </a:r>
            <a:r>
              <a:rPr dirty="0" sz="3000" spc="-8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Pima</a:t>
            </a:r>
            <a:r>
              <a:rPr dirty="0" sz="3000" spc="-8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Indians</a:t>
            </a:r>
            <a:r>
              <a:rPr dirty="0" sz="3000" spc="-8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Dataset</a:t>
            </a:r>
            <a:endParaRPr sz="3000">
              <a:latin typeface="Times New Roman"/>
              <a:cs typeface="Times New Roman"/>
            </a:endParaRPr>
          </a:p>
          <a:p>
            <a:pPr marL="469265" indent="-316865">
              <a:lnSpc>
                <a:spcPct val="100000"/>
              </a:lnSpc>
              <a:spcBef>
                <a:spcPts val="1300"/>
              </a:spcBef>
              <a:buChar char="•"/>
              <a:tabLst>
                <a:tab pos="469265" algn="l"/>
              </a:tabLst>
            </a:pPr>
            <a:r>
              <a:rPr dirty="0" sz="3000">
                <a:latin typeface="Times New Roman"/>
                <a:cs typeface="Times New Roman"/>
              </a:rPr>
              <a:t>Heart</a:t>
            </a:r>
            <a:r>
              <a:rPr dirty="0" sz="3000" spc="-9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Disease:</a:t>
            </a:r>
            <a:r>
              <a:rPr dirty="0" sz="3000" spc="-9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Cleveland</a:t>
            </a:r>
            <a:r>
              <a:rPr dirty="0" sz="3000" spc="-8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Dataset</a:t>
            </a:r>
            <a:endParaRPr sz="3000">
              <a:latin typeface="Times New Roman"/>
              <a:cs typeface="Times New Roman"/>
            </a:endParaRPr>
          </a:p>
          <a:p>
            <a:pPr marL="469265" indent="-316865">
              <a:lnSpc>
                <a:spcPct val="100000"/>
              </a:lnSpc>
              <a:spcBef>
                <a:spcPts val="1300"/>
              </a:spcBef>
              <a:buChar char="•"/>
              <a:tabLst>
                <a:tab pos="469265" algn="l"/>
              </a:tabLst>
            </a:pPr>
            <a:r>
              <a:rPr dirty="0" sz="3000" spc="-10">
                <a:latin typeface="Times New Roman"/>
                <a:cs typeface="Times New Roman"/>
              </a:rPr>
              <a:t>Parkinson’s:</a:t>
            </a:r>
            <a:r>
              <a:rPr dirty="0" sz="3000" spc="-7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UCI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Dataset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3000" b="1">
                <a:latin typeface="Times New Roman"/>
                <a:cs typeface="Times New Roman"/>
              </a:rPr>
              <a:t>Machine</a:t>
            </a:r>
            <a:r>
              <a:rPr dirty="0" sz="3000" spc="-95" b="1">
                <a:latin typeface="Times New Roman"/>
                <a:cs typeface="Times New Roman"/>
              </a:rPr>
              <a:t> </a:t>
            </a:r>
            <a:r>
              <a:rPr dirty="0" sz="3000" b="1">
                <a:latin typeface="Times New Roman"/>
                <a:cs typeface="Times New Roman"/>
              </a:rPr>
              <a:t>Learning</a:t>
            </a:r>
            <a:r>
              <a:rPr dirty="0" sz="3000" spc="-90" b="1">
                <a:latin typeface="Times New Roman"/>
                <a:cs typeface="Times New Roman"/>
              </a:rPr>
              <a:t> </a:t>
            </a:r>
            <a:r>
              <a:rPr dirty="0" sz="3000" spc="-10" b="1">
                <a:latin typeface="Times New Roman"/>
                <a:cs typeface="Times New Roman"/>
              </a:rPr>
              <a:t>Models:</a:t>
            </a:r>
            <a:endParaRPr sz="3000">
              <a:latin typeface="Times New Roman"/>
              <a:cs typeface="Times New Roman"/>
            </a:endParaRPr>
          </a:p>
          <a:p>
            <a:pPr marL="469265" indent="-316865">
              <a:lnSpc>
                <a:spcPct val="100000"/>
              </a:lnSpc>
              <a:spcBef>
                <a:spcPts val="1300"/>
              </a:spcBef>
              <a:buChar char="•"/>
              <a:tabLst>
                <a:tab pos="469265" algn="l"/>
              </a:tabLst>
            </a:pPr>
            <a:r>
              <a:rPr dirty="0" sz="3000">
                <a:latin typeface="Times New Roman"/>
                <a:cs typeface="Times New Roman"/>
              </a:rPr>
              <a:t>SVM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(RBF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kernel)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→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Diabetes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&amp;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Parkinson’s</a:t>
            </a:r>
            <a:endParaRPr sz="3000">
              <a:latin typeface="Times New Roman"/>
              <a:cs typeface="Times New Roman"/>
            </a:endParaRPr>
          </a:p>
          <a:p>
            <a:pPr marL="469265" indent="-316865">
              <a:lnSpc>
                <a:spcPct val="100000"/>
              </a:lnSpc>
              <a:spcBef>
                <a:spcPts val="1425"/>
              </a:spcBef>
              <a:buChar char="•"/>
              <a:tabLst>
                <a:tab pos="469265" algn="l"/>
              </a:tabLst>
            </a:pPr>
            <a:r>
              <a:rPr dirty="0" sz="3000">
                <a:latin typeface="Times New Roman"/>
                <a:cs typeface="Times New Roman"/>
              </a:rPr>
              <a:t>Logistic</a:t>
            </a:r>
            <a:r>
              <a:rPr dirty="0" sz="3000" spc="-7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Regression</a:t>
            </a:r>
            <a:r>
              <a:rPr dirty="0" sz="3000" spc="-7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→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Heart</a:t>
            </a:r>
            <a:r>
              <a:rPr dirty="0" sz="3000" spc="-7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Disease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4014" y="223188"/>
            <a:ext cx="6881495" cy="53784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50"/>
              <a:t>SYSTEM</a:t>
            </a:r>
            <a:r>
              <a:rPr dirty="0" sz="3350" spc="-90"/>
              <a:t> </a:t>
            </a:r>
            <a:r>
              <a:rPr dirty="0" sz="3350"/>
              <a:t>ARCHITECTURE</a:t>
            </a:r>
            <a:r>
              <a:rPr dirty="0" sz="3350" spc="-75"/>
              <a:t> </a:t>
            </a:r>
            <a:r>
              <a:rPr dirty="0" sz="3350"/>
              <a:t>&amp;</a:t>
            </a:r>
            <a:r>
              <a:rPr dirty="0" sz="3350" spc="-75"/>
              <a:t> </a:t>
            </a:r>
            <a:r>
              <a:rPr dirty="0" sz="3350" spc="-10"/>
              <a:t>WORKFLOW</a:t>
            </a:r>
            <a:endParaRPr sz="3350"/>
          </a:p>
        </p:txBody>
      </p:sp>
      <p:sp>
        <p:nvSpPr>
          <p:cNvPr id="3" name="object 3" descr=""/>
          <p:cNvSpPr txBox="1"/>
          <p:nvPr/>
        </p:nvSpPr>
        <p:spPr>
          <a:xfrm>
            <a:off x="1897804" y="1091290"/>
            <a:ext cx="5964555" cy="482600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500" spc="-10" b="1">
                <a:latin typeface="Times New Roman"/>
                <a:cs typeface="Times New Roman"/>
              </a:rPr>
              <a:t>Architecture:</a:t>
            </a:r>
            <a:endParaRPr sz="2500">
              <a:latin typeface="Times New Roman"/>
              <a:cs typeface="Times New Roman"/>
            </a:endParaRPr>
          </a:p>
          <a:p>
            <a:pPr marL="469265" indent="-316865">
              <a:lnSpc>
                <a:spcPct val="100000"/>
              </a:lnSpc>
              <a:spcBef>
                <a:spcPts val="1200"/>
              </a:spcBef>
              <a:buChar char="•"/>
              <a:tabLst>
                <a:tab pos="469265" algn="l"/>
              </a:tabLst>
            </a:pPr>
            <a:r>
              <a:rPr dirty="0" sz="2500">
                <a:latin typeface="Times New Roman"/>
                <a:cs typeface="Times New Roman"/>
              </a:rPr>
              <a:t>UI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Layer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(Streamlit)</a:t>
            </a:r>
            <a:endParaRPr sz="2500">
              <a:latin typeface="Times New Roman"/>
              <a:cs typeface="Times New Roman"/>
            </a:endParaRPr>
          </a:p>
          <a:p>
            <a:pPr marL="469265" indent="-316865">
              <a:lnSpc>
                <a:spcPct val="100000"/>
              </a:lnSpc>
              <a:spcBef>
                <a:spcPts val="1200"/>
              </a:spcBef>
              <a:buChar char="•"/>
              <a:tabLst>
                <a:tab pos="469265" algn="l"/>
              </a:tabLst>
            </a:pPr>
            <a:r>
              <a:rPr dirty="0" sz="2500">
                <a:latin typeface="Times New Roman"/>
                <a:cs typeface="Times New Roman"/>
              </a:rPr>
              <a:t>Processing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Layer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 spc="-30">
                <a:latin typeface="Times New Roman"/>
                <a:cs typeface="Times New Roman"/>
              </a:rPr>
              <a:t>(Validation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&amp;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ML</a:t>
            </a:r>
            <a:r>
              <a:rPr dirty="0" sz="2500" spc="-14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Logic)</a:t>
            </a:r>
            <a:endParaRPr sz="2500">
              <a:latin typeface="Times New Roman"/>
              <a:cs typeface="Times New Roman"/>
            </a:endParaRPr>
          </a:p>
          <a:p>
            <a:pPr marL="469265" indent="-316865">
              <a:lnSpc>
                <a:spcPct val="100000"/>
              </a:lnSpc>
              <a:spcBef>
                <a:spcPts val="1200"/>
              </a:spcBef>
              <a:buChar char="•"/>
              <a:tabLst>
                <a:tab pos="469265" algn="l"/>
              </a:tabLst>
            </a:pPr>
            <a:r>
              <a:rPr dirty="0" sz="2500">
                <a:latin typeface="Times New Roman"/>
                <a:cs typeface="Times New Roman"/>
              </a:rPr>
              <a:t>Data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Layer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(Saved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Models)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500" spc="-10" b="1">
                <a:latin typeface="Times New Roman"/>
                <a:cs typeface="Times New Roman"/>
              </a:rPr>
              <a:t>Workflow:</a:t>
            </a:r>
            <a:endParaRPr sz="2500">
              <a:latin typeface="Times New Roman"/>
              <a:cs typeface="Times New Roman"/>
            </a:endParaRPr>
          </a:p>
          <a:p>
            <a:pPr marL="469900" indent="-3175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900" algn="l"/>
              </a:tabLst>
            </a:pPr>
            <a:r>
              <a:rPr dirty="0" sz="2500">
                <a:latin typeface="Times New Roman"/>
                <a:cs typeface="Times New Roman"/>
              </a:rPr>
              <a:t>User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Inputs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Times New Roman"/>
                <a:cs typeface="Times New Roman"/>
              </a:rPr>
              <a:t>Data</a:t>
            </a:r>
            <a:endParaRPr sz="2500">
              <a:latin typeface="Times New Roman"/>
              <a:cs typeface="Times New Roman"/>
            </a:endParaRPr>
          </a:p>
          <a:p>
            <a:pPr marL="469900" indent="-3175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900" algn="l"/>
              </a:tabLst>
            </a:pPr>
            <a:r>
              <a:rPr dirty="0" sz="2500">
                <a:latin typeface="Times New Roman"/>
                <a:cs typeface="Times New Roman"/>
              </a:rPr>
              <a:t>Preprocessing</a:t>
            </a:r>
            <a:r>
              <a:rPr dirty="0" sz="2500" spc="-7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&amp;</a:t>
            </a:r>
            <a:r>
              <a:rPr dirty="0" sz="2500" spc="-114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Validation</a:t>
            </a:r>
            <a:endParaRPr sz="2500">
              <a:latin typeface="Times New Roman"/>
              <a:cs typeface="Times New Roman"/>
            </a:endParaRPr>
          </a:p>
          <a:p>
            <a:pPr marL="469900" indent="-3175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900" algn="l"/>
              </a:tabLst>
            </a:pPr>
            <a:r>
              <a:rPr dirty="0" sz="2500">
                <a:latin typeface="Times New Roman"/>
                <a:cs typeface="Times New Roman"/>
              </a:rPr>
              <a:t>ML</a:t>
            </a:r>
            <a:r>
              <a:rPr dirty="0" sz="2500" spc="-1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Model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Prediction</a:t>
            </a:r>
            <a:endParaRPr sz="2500">
              <a:latin typeface="Times New Roman"/>
              <a:cs typeface="Times New Roman"/>
            </a:endParaRPr>
          </a:p>
          <a:p>
            <a:pPr marL="469900" indent="-3175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900" algn="l"/>
              </a:tabLst>
            </a:pPr>
            <a:r>
              <a:rPr dirty="0" sz="2500">
                <a:latin typeface="Times New Roman"/>
                <a:cs typeface="Times New Roman"/>
              </a:rPr>
              <a:t>Output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Display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with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Interpretation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146810">
              <a:lnSpc>
                <a:spcPct val="100000"/>
              </a:lnSpc>
              <a:spcBef>
                <a:spcPts val="100"/>
              </a:spcBef>
            </a:pPr>
            <a:r>
              <a:rPr dirty="0" sz="4400" spc="-165"/>
              <a:t>RESULT</a:t>
            </a:r>
            <a:r>
              <a:rPr dirty="0" sz="4400" spc="-180"/>
              <a:t> </a:t>
            </a:r>
            <a:r>
              <a:rPr dirty="0" sz="4400"/>
              <a:t>&amp;</a:t>
            </a:r>
            <a:r>
              <a:rPr dirty="0" sz="4400" spc="-170"/>
              <a:t> </a:t>
            </a:r>
            <a:r>
              <a:rPr dirty="0" sz="4400" spc="-145"/>
              <a:t>ANALYSIS</a:t>
            </a:r>
            <a:endParaRPr sz="4400"/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5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b="1">
                <a:latin typeface="Times New Roman"/>
                <a:cs typeface="Times New Roman"/>
              </a:rPr>
              <a:t>Accuracy</a:t>
            </a:r>
            <a:r>
              <a:rPr dirty="0" spc="-15" b="1">
                <a:latin typeface="Times New Roman"/>
                <a:cs typeface="Times New Roman"/>
              </a:rPr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Prediction</a:t>
            </a:r>
            <a:r>
              <a:rPr dirty="0" spc="-15"/>
              <a:t> </a:t>
            </a:r>
            <a:r>
              <a:rPr dirty="0" spc="-10"/>
              <a:t>Models:</a:t>
            </a:r>
          </a:p>
          <a:p>
            <a:pPr marL="424815" indent="-272415">
              <a:lnSpc>
                <a:spcPct val="100000"/>
              </a:lnSpc>
              <a:spcBef>
                <a:spcPts val="969"/>
              </a:spcBef>
              <a:buChar char="•"/>
              <a:tabLst>
                <a:tab pos="424815" algn="l"/>
              </a:tabLst>
            </a:pPr>
            <a:r>
              <a:rPr dirty="0"/>
              <a:t>Diabetes</a:t>
            </a:r>
            <a:r>
              <a:rPr dirty="0" spc="-15"/>
              <a:t> </a:t>
            </a:r>
            <a:r>
              <a:rPr dirty="0"/>
              <a:t>→</a:t>
            </a:r>
            <a:r>
              <a:rPr dirty="0" spc="-10"/>
              <a:t> </a:t>
            </a:r>
            <a:r>
              <a:rPr dirty="0" spc="-10" b="1">
                <a:latin typeface="Times New Roman"/>
                <a:cs typeface="Times New Roman"/>
              </a:rPr>
              <a:t>75.3%</a:t>
            </a:r>
          </a:p>
          <a:p>
            <a:pPr marL="424815" indent="-272415">
              <a:lnSpc>
                <a:spcPct val="100000"/>
              </a:lnSpc>
              <a:spcBef>
                <a:spcPts val="1060"/>
              </a:spcBef>
              <a:buChar char="•"/>
              <a:tabLst>
                <a:tab pos="424815" algn="l"/>
              </a:tabLst>
            </a:pPr>
            <a:r>
              <a:rPr dirty="0"/>
              <a:t>Heart</a:t>
            </a:r>
            <a:r>
              <a:rPr dirty="0" spc="-5"/>
              <a:t> </a:t>
            </a:r>
            <a:r>
              <a:rPr dirty="0"/>
              <a:t>Disease</a:t>
            </a:r>
            <a:r>
              <a:rPr dirty="0" spc="-5"/>
              <a:t> </a:t>
            </a:r>
            <a:r>
              <a:rPr dirty="0"/>
              <a:t>→</a:t>
            </a:r>
            <a:r>
              <a:rPr dirty="0" spc="-5"/>
              <a:t> </a:t>
            </a:r>
            <a:r>
              <a:rPr dirty="0" spc="-10" b="1">
                <a:latin typeface="Times New Roman"/>
                <a:cs typeface="Times New Roman"/>
              </a:rPr>
              <a:t>81.8%</a:t>
            </a:r>
          </a:p>
          <a:p>
            <a:pPr marL="12700" marR="3199130" indent="412115">
              <a:lnSpc>
                <a:spcPct val="143100"/>
              </a:lnSpc>
              <a:buChar char="•"/>
              <a:tabLst>
                <a:tab pos="424815" algn="l"/>
              </a:tabLst>
            </a:pPr>
            <a:r>
              <a:rPr dirty="0" spc="-10"/>
              <a:t>Parkinson’s</a:t>
            </a:r>
            <a:r>
              <a:rPr dirty="0" spc="-15"/>
              <a:t> </a:t>
            </a:r>
            <a:r>
              <a:rPr dirty="0"/>
              <a:t>→</a:t>
            </a:r>
            <a:r>
              <a:rPr dirty="0" spc="-15"/>
              <a:t> </a:t>
            </a:r>
            <a:r>
              <a:rPr dirty="0" spc="-10" b="1">
                <a:latin typeface="Times New Roman"/>
                <a:cs typeface="Times New Roman"/>
              </a:rPr>
              <a:t>87.2% Performance</a:t>
            </a:r>
            <a:r>
              <a:rPr dirty="0" spc="-10"/>
              <a:t>:</a:t>
            </a:r>
          </a:p>
          <a:p>
            <a:pPr marL="424815" indent="-272415">
              <a:lnSpc>
                <a:spcPct val="100000"/>
              </a:lnSpc>
              <a:spcBef>
                <a:spcPts val="969"/>
              </a:spcBef>
              <a:buChar char="•"/>
              <a:tabLst>
                <a:tab pos="424815" algn="l"/>
              </a:tabLst>
            </a:pPr>
            <a:r>
              <a:rPr dirty="0" spc="-10"/>
              <a:t>Real-</a:t>
            </a:r>
            <a:r>
              <a:rPr dirty="0"/>
              <a:t>time</a:t>
            </a:r>
            <a:r>
              <a:rPr dirty="0" spc="-25"/>
              <a:t> </a:t>
            </a:r>
            <a:r>
              <a:rPr dirty="0"/>
              <a:t>prediction</a:t>
            </a:r>
            <a:r>
              <a:rPr dirty="0" spc="-20"/>
              <a:t> </a:t>
            </a:r>
            <a:r>
              <a:rPr dirty="0" spc="-10"/>
              <a:t>(&lt;0.1s)</a:t>
            </a:r>
          </a:p>
          <a:p>
            <a:pPr marL="424815" indent="-272415">
              <a:lnSpc>
                <a:spcPct val="100000"/>
              </a:lnSpc>
              <a:spcBef>
                <a:spcPts val="975"/>
              </a:spcBef>
              <a:buChar char="•"/>
              <a:tabLst>
                <a:tab pos="424815" algn="l"/>
              </a:tabLst>
            </a:pPr>
            <a:r>
              <a:rPr dirty="0"/>
              <a:t>Accurate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/>
              <a:t>consistent</a:t>
            </a:r>
            <a:r>
              <a:rPr dirty="0" spc="-25"/>
              <a:t> </a:t>
            </a:r>
            <a:r>
              <a:rPr dirty="0"/>
              <a:t>results</a:t>
            </a:r>
            <a:r>
              <a:rPr dirty="0" spc="-20"/>
              <a:t> </a:t>
            </a:r>
            <a:r>
              <a:rPr dirty="0"/>
              <a:t>across</a:t>
            </a:r>
            <a:r>
              <a:rPr dirty="0" spc="-25"/>
              <a:t> </a:t>
            </a:r>
            <a:r>
              <a:rPr dirty="0"/>
              <a:t>multiple</a:t>
            </a:r>
            <a:r>
              <a:rPr dirty="0" spc="-20"/>
              <a:t> </a:t>
            </a:r>
            <a:r>
              <a:rPr dirty="0" spc="-10"/>
              <a:t>cases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247" y="881280"/>
            <a:ext cx="3940418" cy="256261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04485" y="819221"/>
            <a:ext cx="3814526" cy="248074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5965" y="3783526"/>
            <a:ext cx="3939156" cy="25617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CONCLUSION</a:t>
            </a:r>
            <a:r>
              <a:rPr dirty="0" spc="-55"/>
              <a:t> </a:t>
            </a:r>
            <a:r>
              <a:rPr dirty="0"/>
              <a:t>&amp;</a:t>
            </a:r>
            <a:r>
              <a:rPr dirty="0" spc="-40"/>
              <a:t> </a:t>
            </a:r>
            <a:r>
              <a:rPr dirty="0"/>
              <a:t>FUTURE</a:t>
            </a:r>
            <a:r>
              <a:rPr dirty="0" spc="-40"/>
              <a:t> </a:t>
            </a:r>
            <a:r>
              <a:rPr dirty="0" spc="-10"/>
              <a:t>ENHANCEMENT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43611" y="1189603"/>
            <a:ext cx="8310245" cy="4495800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dirty="0" sz="2700" spc="-10" b="1">
                <a:latin typeface="Times New Roman"/>
                <a:cs typeface="Times New Roman"/>
              </a:rPr>
              <a:t>Conclusion:</a:t>
            </a:r>
            <a:endParaRPr sz="2700">
              <a:latin typeface="Times New Roman"/>
              <a:cs typeface="Times New Roman"/>
            </a:endParaRPr>
          </a:p>
          <a:p>
            <a:pPr marL="469265" indent="-316865">
              <a:lnSpc>
                <a:spcPct val="100000"/>
              </a:lnSpc>
              <a:spcBef>
                <a:spcPts val="1160"/>
              </a:spcBef>
              <a:buChar char="•"/>
              <a:tabLst>
                <a:tab pos="469265" algn="l"/>
              </a:tabLst>
            </a:pPr>
            <a:r>
              <a:rPr dirty="0" sz="2700">
                <a:latin typeface="Times New Roman"/>
                <a:cs typeface="Times New Roman"/>
              </a:rPr>
              <a:t>Developed</a:t>
            </a:r>
            <a:r>
              <a:rPr dirty="0" sz="2700" spc="-7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a</a:t>
            </a:r>
            <a:r>
              <a:rPr dirty="0" sz="2700" spc="-6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functional</a:t>
            </a:r>
            <a:r>
              <a:rPr dirty="0" sz="2700" spc="-65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multi-</a:t>
            </a:r>
            <a:r>
              <a:rPr dirty="0" sz="2700">
                <a:latin typeface="Times New Roman"/>
                <a:cs typeface="Times New Roman"/>
              </a:rPr>
              <a:t>disease</a:t>
            </a:r>
            <a:r>
              <a:rPr dirty="0" sz="2700" spc="-6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prediction</a:t>
            </a:r>
            <a:r>
              <a:rPr dirty="0" sz="2700" spc="-6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web</a:t>
            </a:r>
            <a:r>
              <a:rPr dirty="0" sz="2700" spc="-55">
                <a:latin typeface="Times New Roman"/>
                <a:cs typeface="Times New Roman"/>
              </a:rPr>
              <a:t> </a:t>
            </a:r>
            <a:r>
              <a:rPr dirty="0" sz="2700" spc="-25">
                <a:latin typeface="Times New Roman"/>
                <a:cs typeface="Times New Roman"/>
              </a:rPr>
              <a:t>app</a:t>
            </a:r>
            <a:endParaRPr sz="2700">
              <a:latin typeface="Times New Roman"/>
              <a:cs typeface="Times New Roman"/>
            </a:endParaRPr>
          </a:p>
          <a:p>
            <a:pPr marL="469265" indent="-316865">
              <a:lnSpc>
                <a:spcPct val="100000"/>
              </a:lnSpc>
              <a:spcBef>
                <a:spcPts val="1160"/>
              </a:spcBef>
              <a:buChar char="•"/>
              <a:tabLst>
                <a:tab pos="469265" algn="l"/>
              </a:tabLst>
            </a:pPr>
            <a:r>
              <a:rPr dirty="0" sz="2700">
                <a:latin typeface="Times New Roman"/>
                <a:cs typeface="Times New Roman"/>
              </a:rPr>
              <a:t>Highly</a:t>
            </a:r>
            <a:r>
              <a:rPr dirty="0" sz="2700" spc="-4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accessible</a:t>
            </a:r>
            <a:r>
              <a:rPr dirty="0" sz="2700" spc="-4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and</a:t>
            </a:r>
            <a:r>
              <a:rPr dirty="0" sz="2700" spc="-4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fast</a:t>
            </a:r>
            <a:r>
              <a:rPr dirty="0" sz="2700" spc="-4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health</a:t>
            </a:r>
            <a:r>
              <a:rPr dirty="0" sz="2700" spc="-4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risk</a:t>
            </a:r>
            <a:r>
              <a:rPr dirty="0" sz="2700" spc="-4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estimation</a:t>
            </a:r>
            <a:r>
              <a:rPr dirty="0" sz="2700" spc="-40">
                <a:latin typeface="Times New Roman"/>
                <a:cs typeface="Times New Roman"/>
              </a:rPr>
              <a:t> </a:t>
            </a:r>
            <a:r>
              <a:rPr dirty="0" sz="2700" spc="-20">
                <a:latin typeface="Times New Roman"/>
                <a:cs typeface="Times New Roman"/>
              </a:rPr>
              <a:t>tool</a:t>
            </a:r>
            <a:endParaRPr sz="2700">
              <a:latin typeface="Times New Roman"/>
              <a:cs typeface="Times New Roman"/>
            </a:endParaRPr>
          </a:p>
          <a:p>
            <a:pPr marL="469265" indent="-316865">
              <a:lnSpc>
                <a:spcPct val="100000"/>
              </a:lnSpc>
              <a:spcBef>
                <a:spcPts val="1160"/>
              </a:spcBef>
              <a:buChar char="•"/>
              <a:tabLst>
                <a:tab pos="469265" algn="l"/>
              </a:tabLst>
            </a:pPr>
            <a:r>
              <a:rPr dirty="0" sz="2700">
                <a:latin typeface="Times New Roman"/>
                <a:cs typeface="Times New Roman"/>
              </a:rPr>
              <a:t>Reliable</a:t>
            </a:r>
            <a:r>
              <a:rPr dirty="0" sz="2700" spc="-4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prediction</a:t>
            </a:r>
            <a:r>
              <a:rPr dirty="0" sz="2700" spc="-4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with</a:t>
            </a:r>
            <a:r>
              <a:rPr dirty="0" sz="2700" spc="-4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good</a:t>
            </a:r>
            <a:r>
              <a:rPr dirty="0" sz="2700" spc="-4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accuracy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2700" b="1">
                <a:latin typeface="Times New Roman"/>
                <a:cs typeface="Times New Roman"/>
              </a:rPr>
              <a:t>Future</a:t>
            </a:r>
            <a:r>
              <a:rPr dirty="0" sz="2700" spc="-110" b="1">
                <a:latin typeface="Times New Roman"/>
                <a:cs typeface="Times New Roman"/>
              </a:rPr>
              <a:t> </a:t>
            </a:r>
            <a:r>
              <a:rPr dirty="0" sz="2700" spc="-10" b="1">
                <a:latin typeface="Times New Roman"/>
                <a:cs typeface="Times New Roman"/>
              </a:rPr>
              <a:t>Enhancements:</a:t>
            </a:r>
            <a:endParaRPr sz="2700">
              <a:latin typeface="Times New Roman"/>
              <a:cs typeface="Times New Roman"/>
            </a:endParaRPr>
          </a:p>
          <a:p>
            <a:pPr marL="469265" indent="-316865">
              <a:lnSpc>
                <a:spcPct val="100000"/>
              </a:lnSpc>
              <a:spcBef>
                <a:spcPts val="1160"/>
              </a:spcBef>
              <a:buChar char="•"/>
              <a:tabLst>
                <a:tab pos="469265" algn="l"/>
              </a:tabLst>
            </a:pPr>
            <a:r>
              <a:rPr dirty="0" sz="2700">
                <a:latin typeface="Times New Roman"/>
                <a:cs typeface="Times New Roman"/>
              </a:rPr>
              <a:t>Probability</a:t>
            </a:r>
            <a:r>
              <a:rPr dirty="0" sz="2700" spc="-4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scores</a:t>
            </a:r>
            <a:r>
              <a:rPr dirty="0" sz="2700" spc="-4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&amp;</a:t>
            </a:r>
            <a:r>
              <a:rPr dirty="0" sz="2700" spc="-4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risk</a:t>
            </a:r>
            <a:r>
              <a:rPr dirty="0" sz="2700" spc="-4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visualization</a:t>
            </a:r>
            <a:endParaRPr sz="2700">
              <a:latin typeface="Times New Roman"/>
              <a:cs typeface="Times New Roman"/>
            </a:endParaRPr>
          </a:p>
          <a:p>
            <a:pPr marL="469265" indent="-316865">
              <a:lnSpc>
                <a:spcPct val="100000"/>
              </a:lnSpc>
              <a:spcBef>
                <a:spcPts val="1160"/>
              </a:spcBef>
              <a:buChar char="•"/>
              <a:tabLst>
                <a:tab pos="469265" algn="l"/>
              </a:tabLst>
            </a:pPr>
            <a:r>
              <a:rPr dirty="0" sz="2700">
                <a:latin typeface="Times New Roman"/>
                <a:cs typeface="Times New Roman"/>
              </a:rPr>
              <a:t>Add</a:t>
            </a:r>
            <a:r>
              <a:rPr dirty="0" sz="2700" spc="-6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more</a:t>
            </a:r>
            <a:r>
              <a:rPr dirty="0" sz="2700" spc="-7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diseases</a:t>
            </a:r>
            <a:r>
              <a:rPr dirty="0" sz="2700" spc="-60">
                <a:latin typeface="Times New Roman"/>
                <a:cs typeface="Times New Roman"/>
              </a:rPr>
              <a:t> </a:t>
            </a:r>
            <a:r>
              <a:rPr dirty="0" sz="2700" spc="-20">
                <a:latin typeface="Times New Roman"/>
                <a:cs typeface="Times New Roman"/>
              </a:rPr>
              <a:t>(Kidney,</a:t>
            </a:r>
            <a:r>
              <a:rPr dirty="0" sz="2700" spc="-65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Liver,</a:t>
            </a:r>
            <a:r>
              <a:rPr dirty="0" sz="2700" spc="-6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Cancer)</a:t>
            </a:r>
            <a:endParaRPr sz="2700">
              <a:latin typeface="Times New Roman"/>
              <a:cs typeface="Times New Roman"/>
            </a:endParaRPr>
          </a:p>
          <a:p>
            <a:pPr marL="469265" indent="-316865">
              <a:lnSpc>
                <a:spcPct val="100000"/>
              </a:lnSpc>
              <a:spcBef>
                <a:spcPts val="1160"/>
              </a:spcBef>
              <a:buChar char="•"/>
              <a:tabLst>
                <a:tab pos="469265" algn="l"/>
              </a:tabLst>
            </a:pPr>
            <a:r>
              <a:rPr dirty="0" sz="2700" spc="-10">
                <a:latin typeface="Times New Roman"/>
                <a:cs typeface="Times New Roman"/>
              </a:rPr>
              <a:t>Mobile</a:t>
            </a:r>
            <a:r>
              <a:rPr dirty="0" sz="2700" spc="-17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App</a:t>
            </a:r>
            <a:r>
              <a:rPr dirty="0" sz="2700" spc="-2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UI</a:t>
            </a:r>
            <a:r>
              <a:rPr dirty="0" sz="2700" spc="-2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and</a:t>
            </a:r>
            <a:r>
              <a:rPr dirty="0" sz="2700" spc="-1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cloud</a:t>
            </a:r>
            <a:r>
              <a:rPr dirty="0" sz="2700" spc="-2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database</a:t>
            </a:r>
            <a:r>
              <a:rPr dirty="0" sz="2700" spc="-2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integration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8365" y="2776220"/>
            <a:ext cx="4345940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-605" b="0">
                <a:latin typeface="Arial MT"/>
                <a:cs typeface="Arial MT"/>
              </a:rPr>
              <a:t>Thank</a:t>
            </a:r>
            <a:r>
              <a:rPr dirty="0" sz="8000" spc="-300" b="0">
                <a:latin typeface="Arial MT"/>
                <a:cs typeface="Arial MT"/>
              </a:rPr>
              <a:t> </a:t>
            </a:r>
            <a:r>
              <a:rPr dirty="0" sz="8000" spc="-630" b="0">
                <a:latin typeface="Arial MT"/>
                <a:cs typeface="Arial MT"/>
              </a:rPr>
              <a:t>you!</a:t>
            </a:r>
            <a:endParaRPr sz="8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Vocational_Training_Presentation</dc:title>
  <dcterms:created xsi:type="dcterms:W3CDTF">2025-12-07T20:20:38Z</dcterms:created>
  <dcterms:modified xsi:type="dcterms:W3CDTF">2025-12-07T20:20:38Z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2025-12-07T00:00:00Z</vt:filetime>
  </property>
  <property fmtid="{D5CDD505-2E9C-101B-9397-08002B2CF9AE}" pid="3" name="Creator">
    <vt:lpwstr>Keynote</vt:lpwstr>
  </property>
  <property fmtid="{D5CDD505-2E9C-101B-9397-08002B2CF9AE}" pid="4" name="LastSaved">
    <vt:filetime>2025-12-07T00:00:00Z</vt:filetime>
  </property>
  <property fmtid="{D5CDD505-2E9C-101B-9397-08002B2CF9AE}" pid="5" name="Producer">
    <vt:lpwstr>macOS Version 15.7 (Build 24G222) Quartz PDFContext</vt:lpwstr>
  </property>
</Properties>
</file>